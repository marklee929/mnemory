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기억 유지율</c:v>
                </c:pt>
              </c:strCache>
            </c:strRef>
          </c:tx>
          <c:spPr>
            <a:solidFill>
              <a:srgbClr val="0EA5E9"/>
            </a:solidFill>
            <a:ln w="25400" cap="flat">
              <a:solidFill>
                <a:srgbClr val="0EA5E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A5E9"/>
              </a:solidFill>
              <a:ln w="9525" cap="flat">
                <a:solidFill>
                  <a:srgbClr val="0EA5E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학습 직후</c:v>
                  </c:pt>
                  <c:pt idx="1">
                    <c:v>1차 반복</c:v>
                  </c:pt>
                  <c:pt idx="2">
                    <c:v>2차 반복</c:v>
                  </c:pt>
                  <c:pt idx="3">
                    <c:v>3차 반복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80</c:v>
                </c:pt>
                <c:pt idx="2">
                  <c:v>90</c:v>
                </c:pt>
                <c:pt idx="3">
                  <c:v>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4A3B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193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94A3B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193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hyperlink" Target="https://www.fyno.io/blog/a-developers-guide-to-firebase-cloud-messaging-fcm-cm2u0o2dc00d9wixol704autt#:~:text=What%20is%20Firebase%20Cloud%20Messaging,FCM" TargetMode="External"/><Relationship Id="rId7" Type="http://schemas.openxmlformats.org/officeDocument/2006/relationships/hyperlink" Target="https://elmlearning.com/blog/knowledge-retention/#:~:text=1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hyperlink" Target="https://firebase.google.com/products/functions#:~:text=,Firebase" TargetMode="External"/><Relationship Id="rId2" Type="http://schemas.openxmlformats.org/officeDocument/2006/relationships/hyperlink" Target="https://firebase.google.com/docs/firestore#:~:text=Use%20our%20flexible%2C%20scalable%20NoSQL,side%20development" TargetMode="External"/><Relationship Id="rId3" Type="http://schemas.openxmlformats.org/officeDocument/2006/relationships/hyperlink" Target="https://www.fyno.io/blog/a-developers-guide-to-firebase-cloud-messaging-fcm-cm2u0o2dc00d9wixol704autt#:~:text=What%20is%20Firebase%20Cloud%20Messaging,FC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hyperlink" Target="https://firebase.google.com/docs/firestore#:~:text=Use%20our%20flexible%2C%20scalable%20NoSQL,side%20development" TargetMode="External"/><Relationship Id="rId6" Type="http://schemas.openxmlformats.org/officeDocument/2006/relationships/hyperlink" Target="https://www.fyno.io/blog/a-developers-guide-to-firebase-cloud-messaging-fcm-cm2u0o2dc00d9wixol704autt#:~:text=What%20is%20Firebase%20Cloud%20Messaging,FCM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hyperlink" Target="https://firebase.google.com/products/functions#:~:text=,Firebase" TargetMode="External"/><Relationship Id="rId4" Type="http://schemas.openxmlformats.org/officeDocument/2006/relationships/hyperlink" Target="https://firebase.google.com/docs/firestore#:~:text=Use%20our%20flexible%2C%20scalable%20NoSQL,side%20development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hyperlink" Target="https://firebase.google.com/docs/firestore#:~:text=Use%20our%20flexible%2C%20scalable%20NoSQL,side%20developmen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hyperlink" Target="https://elmlearning.com/blog/knowledge-retention/#:~:text=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hyperlink" Target="https://www.fyno.io/blog/a-developers-guide-to-firebase-cloud-messaging-fcm-cm2u0o2dc00d9wixol704autt#:~:text=What%20is%20Firebase%20Cloud%20Messaging,FC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hyperlink" Target="https://firebase.google.com/products/functions#:~:text=,Firebase" TargetMode="External"/><Relationship Id="rId7" Type="http://schemas.openxmlformats.org/officeDocument/2006/relationships/hyperlink" Target="https://firebase.google.com/docs/firestore#:~:text=Use%20our%20flexible%2C%20scalable%20NoSQL,side%20development" TargetMode="External"/><Relationship Id="rId8" Type="http://schemas.openxmlformats.org/officeDocument/2006/relationships/hyperlink" Target="https://elmlearning.com/blog/knowledge-retention/#:~:text=1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hyperlink" Target="https://firebase.google.com/products/functions#:~:text=,Firebase" TargetMode="External"/><Relationship Id="rId5" Type="http://schemas.openxmlformats.org/officeDocument/2006/relationships/hyperlink" Target="https://firebase.google.com/docs/firestore#:~:text=Use%20our%20flexible%2C%20scalable%20NoSQL,side%20development" TargetMode="External"/><Relationship Id="rId6" Type="http://schemas.openxmlformats.org/officeDocument/2006/relationships/hyperlink" Target="https://elmlearning.com/blog/knowledge-retention/#:~:text=1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548640" y="18288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mnemory
</a:t>
            </a:r>
            <a:pPr algn="l" indent="0" marL="0">
              <a:buNone/>
            </a:pPr>
            <a:r>
              <a:rPr lang="en-US" sz="2400" dirty="0">
                <a:solidFill>
                  <a:srgbClr val="CFE8FF"/>
                </a:solidFill>
              </a:rPr>
              <a:t>제품 MVP 및 아키텍처
</a:t>
            </a:r>
            <a:pPr algn="l" indent="0" marL="0">
              <a:buNone/>
            </a:pPr>
            <a:r>
              <a:rPr lang="en-US" sz="1600" dirty="0">
                <a:solidFill>
                  <a:srgbClr val="E0F2FE"/>
                </a:solidFill>
              </a:rPr>
              <a:t>AI 기반 지식 기억 시스템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931"/>
                </a:solidFill>
              </a:rPr>
              <a:t>MVP 정의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0058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31"/>
                </a:solidFill>
              </a:rPr>
              <a:t>AI 카드 생성
</a:t>
            </a:r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사용자가 입력한 주제를 분석하여 100–300자 카드와 퀴즈를 생성합니다.</a:t>
            </a:r>
            <a:endParaRPr lang="en-US" sz="1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16459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31"/>
                </a:solidFill>
              </a:rPr>
              <a:t>간격 반복 알고리즘
</a:t>
            </a:r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쉬움·중간·어려움 3단계 난이도에 따라 복습 주기를 조정합니다.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3172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97280" y="22860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31"/>
                </a:solidFill>
              </a:rPr>
              <a:t>푸시 리마인더
</a:t>
            </a:r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적절한 시점에 학습을 상기시키는 알림을 전송합니다.</a:t>
            </a:r>
            <a:endParaRPr lang="en-US" sz="14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971800"/>
            <a:ext cx="365760" cy="3657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97280" y="29260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31"/>
                </a:solidFill>
              </a:rPr>
              <a:t>게스트 모드
</a:t>
            </a:r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가입 없이 2개의 주제 및 10장의 카드로 체험 가능하며 기본 알림만 제공합니다.</a:t>
            </a:r>
            <a:endParaRPr lang="en-US" sz="14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611880"/>
            <a:ext cx="365760" cy="3657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97280" y="35661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31"/>
                </a:solidFill>
              </a:rPr>
              <a:t>유저 피드백
</a:t>
            </a:r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사용자가 카드 난이도를 평가하면 다음 복습 일정에 반영합니다.</a:t>
            </a:r>
            <a:endParaRPr lang="en-US" sz="1400" dirty="0"/>
          </a:p>
        </p:txBody>
      </p:sp>
      <p:sp>
        <p:nvSpPr>
          <p:cNvPr id="13" name="Text 6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2563EB"/>
                </a:solidFill>
                <a:hlinkClick r:id="rId6"/>
              </a:rPr>
              <a:t>[1]</a:t>
            </a:r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700" u="sng" dirty="0">
                <a:solidFill>
                  <a:srgbClr val="2563EB"/>
                </a:solidFill>
                <a:hlinkClick r:id="rId7"/>
              </a:rPr>
              <a:t>[2]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931"/>
                </a:solidFill>
              </a:rPr>
              <a:t>시스템 아키텍처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E9F5FF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12801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</a:rPr>
              <a:t>Flutter 앱
</a:t>
            </a:r>
            <a:pPr indent="0" marL="0">
              <a:buNone/>
            </a:pPr>
            <a:r>
              <a:rPr lang="en-US" sz="900" dirty="0">
                <a:solidFill>
                  <a:srgbClr val="0A1931"/>
                </a:solidFill>
              </a:rPr>
              <a:t>iOS/Android/Web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0A1931"/>
                </a:solidFill>
              </a:rPr>
              <a:t>오프라인 캐시 &amp; UI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949440" y="11887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E9F5FF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995160" y="12801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</a:rPr>
              <a:t>AI 모델
</a:t>
            </a:r>
            <a:pPr indent="0" marL="0">
              <a:buNone/>
            </a:pPr>
            <a:r>
              <a:rPr lang="en-US" sz="900" dirty="0">
                <a:solidFill>
                  <a:srgbClr val="0A1931"/>
                </a:solidFill>
              </a:rPr>
              <a:t>주제 요약 및 퀴즈 생성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0A1931"/>
                </a:solidFill>
              </a:rPr>
              <a:t>대형 언어 모델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0" y="192024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E9F5FF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703320" y="20116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</a:rPr>
              <a:t>Cloud Functions
</a:t>
            </a:r>
            <a:pPr indent="0" marL="0">
              <a:buNone/>
            </a:pPr>
            <a:r>
              <a:rPr lang="en-US" sz="900" dirty="0">
                <a:solidFill>
                  <a:srgbClr val="0A1931"/>
                </a:solidFill>
              </a:rPr>
              <a:t>서버리스 비즈니스 로직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0A1931"/>
                </a:solidFill>
              </a:rPr>
              <a:t>AI 호출 &amp; 스케줄러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E9F5FF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94360" y="33832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</a:rPr>
              <a:t>Firestore DB
</a:t>
            </a:r>
            <a:pPr indent="0" marL="0">
              <a:buNone/>
            </a:pPr>
            <a:r>
              <a:rPr lang="en-US" sz="900" dirty="0">
                <a:solidFill>
                  <a:srgbClr val="0A1931"/>
                </a:solidFill>
              </a:rPr>
              <a:t>유연한 문서형 NoSQL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0A1931"/>
                </a:solidFill>
              </a:rPr>
              <a:t>데이터 동기화 &amp; 오프라인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49440" y="329184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E9F5FF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995160" y="33832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</a:rPr>
              <a:t>FCM &amp; 알림
</a:t>
            </a:r>
            <a:pPr indent="0" marL="0">
              <a:buNone/>
            </a:pPr>
            <a:r>
              <a:rPr lang="en-US" sz="900" dirty="0">
                <a:solidFill>
                  <a:srgbClr val="0A1931"/>
                </a:solidFill>
              </a:rPr>
              <a:t>다중 플랫폼 푸시 서비스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0A1931"/>
                </a:solidFill>
              </a:rPr>
              <a:t>주제 기반 알림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94560" y="1508760"/>
            <a:ext cx="1463040" cy="91440"/>
          </a:xfrm>
          <a:prstGeom prst="rightArrow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669280" y="1508760"/>
            <a:ext cx="1280160" cy="91440"/>
          </a:xfrm>
          <a:prstGeom prst="leftArrow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297680" y="3017520"/>
            <a:ext cx="91440" cy="457200"/>
          </a:xfrm>
          <a:prstGeom prst="downArrow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91440" cy="457200"/>
          </a:xfrm>
          <a:prstGeom prst="downArrow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863840" y="2331720"/>
            <a:ext cx="91440" cy="548640"/>
          </a:xfrm>
          <a:prstGeom prst="upArrow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서버리스 아키텍처는 자동 확장·무중단을 보장하며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모든 서비스가 이벤트 기반으로 상호작용합니다.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2563EB"/>
                </a:solidFill>
                <a:hlinkClick r:id="rId1"/>
              </a:rPr>
              <a:t>[3]</a:t>
            </a:r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700" u="sng" dirty="0">
                <a:solidFill>
                  <a:srgbClr val="2563EB"/>
                </a:solidFill>
                <a:hlinkClick r:id="rId2"/>
              </a:rPr>
              <a:t>[4]</a:t>
            </a:r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700" u="sng" dirty="0">
                <a:solidFill>
                  <a:srgbClr val="2563EB"/>
                </a:solidFill>
                <a:hlinkClick r:id="rId3"/>
              </a:rPr>
              <a:t>[5]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931"/>
                </a:solidFill>
              </a:rPr>
              <a:t>클라이언트: Flutter 앱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200400" cy="2286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43000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89120" y="1097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31"/>
                </a:solidFill>
              </a:rPr>
              <a:t>크로스 플랫폼
</a:t>
            </a:r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Flutter로 iOS, Android, Web을 한 번에 지원합니다.</a:t>
            </a:r>
            <a:endParaRPr lang="en-US" sz="1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874520"/>
            <a:ext cx="365760" cy="3657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389120" y="1828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31"/>
                </a:solidFill>
              </a:rPr>
              <a:t>오프라인 샌드박스
</a:t>
            </a:r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네트워크 없이도 카드 검토 및 학습이 가능합니다.</a:t>
            </a:r>
            <a:endParaRPr lang="en-US" sz="14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2606040"/>
            <a:ext cx="365760" cy="36576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389120" y="2560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31"/>
                </a:solidFill>
              </a:rPr>
              <a:t>안전한 인증
</a:t>
            </a:r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Firebase Auth와 연동하여 사용자 데이터 보호.</a:t>
            </a:r>
            <a:endParaRPr lang="en-US" sz="1400" dirty="0"/>
          </a:p>
        </p:txBody>
      </p:sp>
      <p:sp>
        <p:nvSpPr>
          <p:cNvPr id="10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2563EB"/>
                </a:solidFill>
                <a:hlinkClick r:id="rId5"/>
              </a:rPr>
              <a:t>[6]</a:t>
            </a:r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700" u="sng" dirty="0">
                <a:solidFill>
                  <a:srgbClr val="2563EB"/>
                </a:solidFill>
                <a:hlinkClick r:id="rId6"/>
              </a:rPr>
              <a:t>[7]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931"/>
                </a:solidFill>
              </a:rPr>
              <a:t>백엔드 서비스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5156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31"/>
                </a:solidFill>
              </a:rPr>
              <a:t>Cloud Functions
</a:t>
            </a:r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- 서버 관리 없이 코드 실행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- 이벤트 및 HTTP 트리거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- 자동 확장·낮은 유지 비용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- 클라이언트에서 감춰진 로직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03520" y="10515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31"/>
                </a:solidFill>
              </a:rPr>
              <a:t>Firestore
</a:t>
            </a:r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- 유연한 문서/컬렉션 모델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- 실시간 동기화 및 오프라인 캐시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- 쿼리와 필터링 지원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- 멀티 리전 복제 &amp; ACID 트랜잭션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572000" y="1005840"/>
            <a:ext cx="45720" cy="18288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2563EB"/>
                </a:solidFill>
                <a:hlinkClick r:id="rId3"/>
              </a:rPr>
              <a:t>[8]</a:t>
            </a:r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700" u="sng" dirty="0">
                <a:solidFill>
                  <a:srgbClr val="2563EB"/>
                </a:solidFill>
                <a:hlinkClick r:id="rId4"/>
              </a:rPr>
              <a:t>[9]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931"/>
                </a:solidFill>
              </a:rPr>
              <a:t>데이터 모델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37744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4572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엔티티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주요 필드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1931"/>
                          </a:solidFill>
                        </a:rPr>
                        <a:t>토픽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931"/>
                          </a:solidFill>
                        </a:rPr>
                        <a:t>title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931"/>
                          </a:solidFill>
                        </a:rPr>
                        <a:t>description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931"/>
                          </a:solidFill>
                        </a:rPr>
                        <a:t>createdAt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931"/>
                          </a:solidFill>
                        </a:rPr>
                        <a:t>학습 주제 제목과 요약 및 생성 시점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1931"/>
                          </a:solidFill>
                        </a:rPr>
                        <a:t>카드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931"/>
                          </a:solidFill>
                        </a:rPr>
                        <a:t>topicId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931"/>
                          </a:solidFill>
                        </a:rPr>
                        <a:t>content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931"/>
                          </a:solidFill>
                        </a:rPr>
                        <a:t>summary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931"/>
                          </a:solidFill>
                        </a:rPr>
                        <a:t>difficulty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931"/>
                          </a:solidFill>
                        </a:rPr>
                        <a:t>nextReview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931"/>
                          </a:solidFill>
                        </a:rPr>
                        <a:t>관련 토픽 ID, 본문/요약, 난이도, 다음 복습 시각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1931"/>
                          </a:solidFill>
                        </a:rPr>
                        <a:t>세션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931"/>
                          </a:solidFill>
                        </a:rPr>
                        <a:t>userId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931"/>
                          </a:solidFill>
                        </a:rPr>
                        <a:t>activeTopicIds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931"/>
                          </a:solidFill>
                        </a:rPr>
                        <a:t>progress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931"/>
                          </a:solidFill>
                        </a:rPr>
                        <a:t>사용자 계정과 현재 진행 중인 토픽, 학습 진행률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1931"/>
                          </a:solidFill>
                        </a:rPr>
                        <a:t>스케줄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931"/>
                          </a:solidFill>
                        </a:rPr>
                        <a:t>cardId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931"/>
                          </a:solidFill>
                        </a:rPr>
                        <a:t>interval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931"/>
                          </a:solidFill>
                        </a:rPr>
                        <a:t>nextDueAt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931"/>
                          </a:solidFill>
                        </a:rPr>
                        <a:t>카드별 복습 간격과 다음 알림 시간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2563EB"/>
                </a:solidFill>
                <a:hlinkClick r:id="rId1"/>
              </a:rPr>
              <a:t>[10]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931"/>
                </a:solidFill>
              </a:rPr>
              <a:t>간격 반복 알고리즘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206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31"/>
                </a:solidFill>
              </a:rPr>
              <a:t>원리
</a:t>
            </a:r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기억은 반복적으로 강화될 때 장기 기억으로 전환됩니다.
</a:t>
            </a:r>
            <a:pPr indent="0" marL="0">
              <a:buNone/>
            </a:pPr>
            <a:r>
              <a:rPr lang="en-US" sz="1600" b="1" dirty="0">
                <a:solidFill>
                  <a:srgbClr val="0A1931"/>
                </a:solidFill>
              </a:rPr>
              <a:t>구현
</a:t>
            </a:r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카드마다 난이도(쉬움/중간/어려움)를 지정하고,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각 단계별로 1일→3일→7일처럼 점진적 간격을 부여합니다.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사용자 피드백에 따라 간격을 늘리거나 줄입니다.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846320" y="1097280"/>
          <a:ext cx="3840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2563EB"/>
                </a:solidFill>
                <a:hlinkClick r:id="rId2"/>
              </a:rPr>
              <a:t>[11]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931"/>
                </a:solidFill>
              </a:rPr>
              <a:t>푸시 알림 &amp; 게스트 모드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05156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31"/>
                </a:solidFill>
              </a:rPr>
              <a:t>FCM 푸시 알림
</a:t>
            </a:r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- 무료·다중 플랫폼 알림 서비스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- 4KB까지 데이터 페이로드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- 시각적 알림(알림 메시지)과 백그라운드 데이터 메시지 지원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- 토픽 구독으로 그룹 대상 지정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09728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669280" y="105156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31"/>
                </a:solidFill>
              </a:rPr>
              <a:t>게스트 모드
</a:t>
            </a:r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- 가입 없이 빠른 체험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- 최대 2개 주제·10장 카드 제공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- 제한된 알림 주기(예: 3회)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- 계정 생성 시 전체 기능 해금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572000" y="914400"/>
            <a:ext cx="45720" cy="22860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2563EB"/>
                </a:solidFill>
                <a:hlinkClick r:id="rId3"/>
              </a:rPr>
              <a:t>[12]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931"/>
                </a:solidFill>
              </a:rPr>
              <a:t>개발 로드맵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005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31"/>
                </a:solidFill>
              </a:rPr>
              <a:t>M1: 오프라인 샌드박스
</a:t>
            </a:r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Figma 디자인을 이용한 샌드박스 UI와 목업 데이터 구현.</a:t>
            </a:r>
            <a:endParaRPr lang="en-US" sz="1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1737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31"/>
                </a:solidFill>
              </a:rPr>
              <a:t>M2: 게스트 모드 &amp; 로컬 알림
</a:t>
            </a:r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게스트 체험 모드와 로컬 알림 스케줄러 추가.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1460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97280" y="24688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31"/>
                </a:solidFill>
              </a:rPr>
              <a:t>M3: 인증 &amp; DB 스키마
</a:t>
            </a:r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Firebase Auth 통합 및 Firestore 스키마 설계.</a:t>
            </a:r>
            <a:endParaRPr lang="en-US" sz="14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46120"/>
            <a:ext cx="365760" cy="3657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97280" y="3200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31"/>
                </a:solidFill>
              </a:rPr>
              <a:t>M4: AI &amp; 함수
</a:t>
            </a:r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OpenAI API 호출 및 Cloud Functions 로직 완성.</a:t>
            </a:r>
            <a:endParaRPr lang="en-US" sz="14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77640"/>
            <a:ext cx="365760" cy="3657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97280" y="39319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31"/>
                </a:solidFill>
              </a:rPr>
              <a:t>M5: SRS 고도화 &amp; 분석
</a:t>
            </a:r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간격 반복 알고리즘 개선과 학습 통계 대시보드 제공.</a:t>
            </a:r>
            <a:endParaRPr lang="en-US" sz="1400" dirty="0"/>
          </a:p>
        </p:txBody>
      </p:sp>
      <p:sp>
        <p:nvSpPr>
          <p:cNvPr id="13" name="Text 6"/>
          <p:cNvSpPr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2563EB"/>
                </a:solidFill>
                <a:hlinkClick r:id="rId6"/>
              </a:rPr>
              <a:t>[13]</a:t>
            </a:r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700" u="sng" dirty="0">
                <a:solidFill>
                  <a:srgbClr val="2563EB"/>
                </a:solidFill>
                <a:hlinkClick r:id="rId7"/>
              </a:rPr>
              <a:t>[14]</a:t>
            </a:r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700" u="sng" dirty="0">
                <a:solidFill>
                  <a:srgbClr val="2563EB"/>
                </a:solidFill>
                <a:hlinkClick r:id="rId8"/>
              </a:rPr>
              <a:t>[15]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931"/>
                </a:solidFill>
              </a:rPr>
              <a:t>요약 &amp; 다음 단계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0972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31"/>
                </a:solidFill>
              </a:rPr>
              <a:t>MVP 실현
</a:t>
            </a:r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핵심 기능(카드 생성, SRS, 알림)을 완성하고 소규모 유저 테스트를 진행.</a:t>
            </a:r>
            <a:endParaRPr lang="en-US" sz="1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1920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31"/>
                </a:solidFill>
              </a:rPr>
              <a:t>확장 가능한 구조
</a:t>
            </a:r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서버리스 아키텍처와 NoSQL 데이터 모델로 손쉽게 기능을 추가하고 스케일링 가능.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8892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97280" y="2743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31"/>
                </a:solidFill>
              </a:rPr>
              <a:t>지속적인 개선
</a:t>
            </a:r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</a:rPr>
              <a:t>사용자 피드백과 학습 데이터를 통해 알고리즘을 고도화하고 새로운 도메인으로 확장.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지금 바로 mnemory의 미래를 설계하세요!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2563EB"/>
                </a:solidFill>
                <a:hlinkClick r:id="rId4"/>
              </a:rPr>
              <a:t>[16]</a:t>
            </a:r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700" u="sng" dirty="0">
                <a:solidFill>
                  <a:srgbClr val="2563EB"/>
                </a:solidFill>
                <a:hlinkClick r:id="rId5"/>
              </a:rPr>
              <a:t>[17]</a:t>
            </a:r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700" u="sng" dirty="0">
                <a:solidFill>
                  <a:srgbClr val="2563EB"/>
                </a:solidFill>
                <a:hlinkClick r:id="rId6"/>
              </a:rPr>
              <a:t>[18]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2025-11-25T06:33:59Z</dcterms:created>
  <dcterms:modified xsi:type="dcterms:W3CDTF">2025-11-25T06:33:59Z</dcterms:modified>
</cp:coreProperties>
</file>