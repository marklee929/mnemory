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11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간격 반복 플랫폼</c:v>
                </c:pt>
                <c:pt idx="1">
                  <c:v>AI 플래시카드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</c:v>
                </c:pt>
                <c:pt idx="1">
                  <c:v>1.98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1C-4E2E-B373-6FCC5A860B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2032/33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간격 반복 플랫폼</c:v>
                </c:pt>
                <c:pt idx="1">
                  <c:v>AI 플래시카드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4.8</c:v>
                </c:pt>
                <c:pt idx="1">
                  <c:v>8.6199999999999992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1C-4E2E-B373-6FCC5A860B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4A3B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193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94A3B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193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 w="6350" cap="flat">
          <a:solidFill>
            <a:srgbClr val="94A3B8"/>
          </a:solidFill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427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docs.ankiweb.net/background.html#:~:text=There%20are%20two%20simple%20concepts,you%20a%20more%20effective%20learne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nsinsider.com/reports/ai-generated-personalized-flashcard-market-7684#:~:text=A%20University%20of%20Waterloo%20study,or%20even%20enhancing%20retention%20levels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mnote.com/#:~:text=Study%20efficiently%20with%20spaced%C2%A0repetition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hyperlink" Target="https://docs.ankiweb.net/background.html#:~:text=There%20are%20two%20simple%20concepts,you%20a%20more%20effective%20learner" TargetMode="External"/><Relationship Id="rId4" Type="http://schemas.openxmlformats.org/officeDocument/2006/relationships/image" Target="../media/image6.png"/><Relationship Id="rId9" Type="http://schemas.openxmlformats.org/officeDocument/2006/relationships/hyperlink" Target="https://www.perplexity.ai/help-center/en/articles/12120542-what-is-study-mode#:~:text=4,flashcards%2C%20and%20multiple%20choice%20quizze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snsinsider.com/reports/ai-generated-personalized-flashcard-market-7684#:~:text=AI,2032" TargetMode="External"/><Relationship Id="rId4" Type="http://schemas.openxmlformats.org/officeDocument/2006/relationships/hyperlink" Target="https://researchintelo.com/report/spaced-repetition-platforms-market#:~:text=According%20to%20our%20latest%20research%2C,spaced%20repetition%20platforms%20market%20i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mnote.com/#:~:text=Make%20flashcards%20in%20your%20notes,Cut%20study%20time%20in%20half" TargetMode="External"/><Relationship Id="rId7" Type="http://schemas.openxmlformats.org/officeDocument/2006/relationships/hyperlink" Target="https://www.perplexity.ai/help-center/en/articles/12120542-what-is-study-mode#:~:text=4,flashcards%2C%20and%20multiple%20choice%20quizze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ankiweb.net/background.html#:~:text=There%20are%20two%20simple%20concepts,you%20a%20more%20effective%20learner" TargetMode="External"/><Relationship Id="rId5" Type="http://schemas.openxmlformats.org/officeDocument/2006/relationships/hyperlink" Target="https://docs.ankiweb.net/background.html#:~:text=Anki%20is%20a%20program%20which,increase%20the%20amount%20you%20learn" TargetMode="External"/><Relationship Id="rId4" Type="http://schemas.openxmlformats.org/officeDocument/2006/relationships/hyperlink" Target="https://www.remnote.com/#:~:text=Study%20efficiently%20with%20spaced%C2%A0repetitio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mnote.com/#:~:text=Make%20flashcards%20in%20your%20notes,Cut%20study%20time%20in%20hal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perplexity.ai/help-center/en/articles/12120542-what-is-study-mode#:~:text=4,flashcards%2C%20and%20multiple%20choice%20quizzes" TargetMode="External"/><Relationship Id="rId4" Type="http://schemas.openxmlformats.org/officeDocument/2006/relationships/hyperlink" Target="https://docs.ankiweb.net/background.html#:~:text=Anki%20is%20a%20program%20which,increase%20the%20amount%20you%20lear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s://www.snsinsider.com/reports/ai-generated-personalized-flashcard-market-7684#:~:text=A%20University%20of%20Waterloo%20study,or%20even%20enhancing%20retention%20level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nsinsider.com/reports/ai-generated-personalized-flashcard-market-7684#:~:text=AI,2032" TargetMode="External"/><Relationship Id="rId3" Type="http://schemas.openxmlformats.org/officeDocument/2006/relationships/image" Target="../media/image14.png"/><Relationship Id="rId7" Type="http://schemas.openxmlformats.org/officeDocument/2006/relationships/hyperlink" Target="https://researchintelo.com/report/spaced-repetition-platforms-market#:~:text=According%20to%20our%20latest%20research%2C,spaced%20repetition%20platforms%20market%20i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hyperlink" Target="https://www.remnote.com/#:~:text=Study%20efficiently%20with%20spaced%C2%A0repetition" TargetMode="External"/><Relationship Id="rId4" Type="http://schemas.openxmlformats.org/officeDocument/2006/relationships/image" Target="../media/image15.png"/><Relationship Id="rId9" Type="http://schemas.openxmlformats.org/officeDocument/2006/relationships/hyperlink" Target="https://www.snsinsider.com/reports/ai-generated-personalized-flashcard-market-7684#:~:text=A%20University%20of%20Waterloo%20study,or%20even%20enhancing%20retention%20level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hyperlink" Target="https://www.remnote.com/#:~:text=Make%20flashcards%20in%20your%20notes,Cut%20study%20time%20in%20hal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researchintelo.com/report/spaced-repetition-platforms-market#:~:text=According%20to%20our%20latest%20research%2C,spaced%20repetition%20platforms%20market%20is" TargetMode="Externa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548640" y="18288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</a:rPr>
              <a:t>mnemory
</a:t>
            </a:r>
            <a:r>
              <a:rPr lang="en-US" sz="2400" dirty="0">
                <a:solidFill>
                  <a:srgbClr val="E0F2FE"/>
                </a:solidFill>
              </a:rPr>
              <a:t>개념 및 시장 분석
</a:t>
            </a:r>
            <a:r>
              <a:rPr lang="en-US" sz="1600" dirty="0">
                <a:solidFill>
                  <a:srgbClr val="B6E0FE"/>
                </a:solidFill>
              </a:rPr>
              <a:t>AI 기반 지식 학습·기억 시스템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931"/>
                </a:solidFill>
              </a:rPr>
              <a:t>문제 정의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1430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1931"/>
                </a:solidFill>
              </a:rPr>
              <a:t>인간은 학습 후 24시간 내 </a:t>
            </a:r>
            <a:r>
              <a:rPr lang="en-US" sz="1800" b="1" dirty="0">
                <a:solidFill>
                  <a:srgbClr val="2563EB"/>
                </a:solidFill>
              </a:rPr>
              <a:t>70%</a:t>
            </a:r>
            <a:r>
              <a:rPr lang="en-US" sz="1600" dirty="0">
                <a:solidFill>
                  <a:srgbClr val="0A1931"/>
                </a:solidFill>
              </a:rPr>
              <a:t> 의 정보를 잊어버리고, 1주일 내 </a:t>
            </a:r>
            <a:r>
              <a:rPr lang="en-US" sz="1800" b="1" dirty="0">
                <a:solidFill>
                  <a:srgbClr val="2563EB"/>
                </a:solidFill>
              </a:rPr>
              <a:t>90%</a:t>
            </a:r>
            <a:r>
              <a:rPr lang="en-US" sz="1600" dirty="0">
                <a:solidFill>
                  <a:srgbClr val="0A1931"/>
                </a:solidFill>
              </a:rPr>
              <a:t>를 잊습니다.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18745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1931"/>
                </a:solidFill>
              </a:rPr>
              <a:t>반복 학습과 간격 반복은 기억을 </a:t>
            </a:r>
            <a:r>
              <a:rPr lang="en-US" sz="1800" b="1" dirty="0">
                <a:solidFill>
                  <a:srgbClr val="2563EB"/>
                </a:solidFill>
              </a:rPr>
              <a:t>200–300% 개선</a:t>
            </a:r>
            <a:r>
              <a:rPr lang="en-US" sz="1600" dirty="0">
                <a:solidFill>
                  <a:srgbClr val="0A1931"/>
                </a:solidFill>
              </a:rPr>
              <a:t> 시키는 과학적 방법입니다.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51760"/>
            <a:ext cx="4572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265176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1931"/>
                </a:solidFill>
              </a:rPr>
              <a:t>기존 학습 앱들은 주로 </a:t>
            </a:r>
            <a:r>
              <a:rPr lang="en-US" sz="1700" b="1" dirty="0">
                <a:solidFill>
                  <a:srgbClr val="2563EB"/>
                </a:solidFill>
              </a:rPr>
              <a:t>특정 주제</a:t>
            </a:r>
            <a:r>
              <a:rPr lang="en-US" sz="1600" dirty="0">
                <a:solidFill>
                  <a:srgbClr val="0A1931"/>
                </a:solidFill>
              </a:rPr>
              <a:t>나 </a:t>
            </a:r>
            <a:r>
              <a:rPr lang="en-US" sz="1700" b="1" dirty="0">
                <a:solidFill>
                  <a:srgbClr val="2563EB"/>
                </a:solidFill>
              </a:rPr>
              <a:t>언어 학습</a:t>
            </a:r>
            <a:r>
              <a:rPr lang="en-US" sz="1600" dirty="0">
                <a:solidFill>
                  <a:srgbClr val="0A1931"/>
                </a:solidFill>
              </a:rPr>
              <a:t>에만 특화돼 있으며, 범용 지식 학습과 기억 유지까지 지원하지 않습니다.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2563EB"/>
                </a:solidFill>
                <a:hlinkClick r:id="rId6"/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u="sng" dirty="0">
                <a:solidFill>
                  <a:srgbClr val="2563EB"/>
                </a:solidFill>
                <a:hlinkClick r:id="rId7"/>
              </a:rPr>
              <a:t>[2]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931"/>
                </a:solidFill>
              </a:rPr>
              <a:t>솔루션: mnemory 시스템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463040" cy="1828800"/>
          </a:xfrm>
          <a:prstGeom prst="roundRect">
            <a:avLst>
              <a:gd name="adj" fmla="val 6250"/>
            </a:avLst>
          </a:prstGeom>
          <a:solidFill>
            <a:srgbClr val="E9F5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931"/>
                </a:solidFill>
              </a:rPr>
              <a:t>주제 입력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0040" y="2194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931"/>
                </a:solidFill>
              </a:rPr>
              <a:t>사용자가 배우고 싶은 주제를 입력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755648" y="1920240"/>
            <a:ext cx="146304" cy="182880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1920240" y="1097280"/>
            <a:ext cx="1463040" cy="1828800"/>
          </a:xfrm>
          <a:prstGeom prst="roundRect">
            <a:avLst>
              <a:gd name="adj" fmla="val 6250"/>
            </a:avLst>
          </a:prstGeom>
          <a:solidFill>
            <a:srgbClr val="E9F5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12344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20240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931"/>
                </a:solidFill>
              </a:rPr>
              <a:t>AI 지식 설계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965960" y="2194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931"/>
                </a:solidFill>
              </a:rPr>
              <a:t>주제의 핵심 개념을 분석·카드 생성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401568" y="1920240"/>
            <a:ext cx="146304" cy="182880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3566160" y="1097280"/>
            <a:ext cx="1463040" cy="1828800"/>
          </a:xfrm>
          <a:prstGeom prst="roundRect">
            <a:avLst>
              <a:gd name="adj" fmla="val 6250"/>
            </a:avLst>
          </a:prstGeom>
          <a:solidFill>
            <a:srgbClr val="E9F5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123444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66160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931"/>
                </a:solidFill>
              </a:rPr>
              <a:t>SRS 스케줄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611880" y="2194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931"/>
                </a:solidFill>
              </a:rPr>
              <a:t>과학적 간격 반복 알고리즘 적용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047488" y="1920240"/>
            <a:ext cx="146304" cy="182880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3"/>
          <p:cNvSpPr/>
          <p:nvPr/>
        </p:nvSpPr>
        <p:spPr>
          <a:xfrm>
            <a:off x="5212080" y="1097280"/>
            <a:ext cx="1463040" cy="1828800"/>
          </a:xfrm>
          <a:prstGeom prst="roundRect">
            <a:avLst>
              <a:gd name="adj" fmla="val 6250"/>
            </a:avLst>
          </a:prstGeom>
          <a:solidFill>
            <a:srgbClr val="E9F5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123444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12080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931"/>
                </a:solidFill>
              </a:rPr>
              <a:t>푸시 알림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257800" y="2194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931"/>
                </a:solidFill>
              </a:rPr>
              <a:t>적절한 시간에 학습을 상기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6693408" y="1920240"/>
            <a:ext cx="146304" cy="182880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7"/>
          <p:cNvSpPr/>
          <p:nvPr/>
        </p:nvSpPr>
        <p:spPr>
          <a:xfrm>
            <a:off x="6858000" y="1097280"/>
            <a:ext cx="1463040" cy="1828800"/>
          </a:xfrm>
          <a:prstGeom prst="roundRect">
            <a:avLst>
              <a:gd name="adj" fmla="val 6250"/>
            </a:avLst>
          </a:prstGeom>
          <a:solidFill>
            <a:srgbClr val="E9F5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1234440"/>
            <a:ext cx="548640" cy="5486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58000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931"/>
                </a:solidFill>
              </a:rPr>
              <a:t>피드백/강화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903720" y="2194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931"/>
                </a:solidFill>
              </a:rPr>
              <a:t>사용자의 피드백으로 맞춤 강화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1931"/>
                </a:solidFill>
              </a:rPr>
              <a:t>mnemory는 AI와 과학적 간격 반복을 결합하여 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A1931"/>
                </a:solidFill>
              </a:rPr>
              <a:t>모든 지식을 효율적으로 기억하도록 돕습니다.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2563EB"/>
                </a:solidFill>
                <a:hlinkClick r:id="rId8"/>
              </a:rPr>
              <a:t>[3]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u="sng" dirty="0">
                <a:solidFill>
                  <a:srgbClr val="2563EB"/>
                </a:solidFill>
                <a:hlinkClick r:id="rId9"/>
              </a:rPr>
              <a:t>[4]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u="sng" dirty="0">
                <a:solidFill>
                  <a:srgbClr val="2563EB"/>
                </a:solidFill>
                <a:hlinkClick r:id="rId10"/>
              </a:rPr>
              <a:t>[5]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931"/>
                </a:solidFill>
              </a:rPr>
              <a:t>시장 규모 및 성장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914400"/>
          <a:ext cx="4754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5303520" y="10058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</a:rPr>
              <a:t>2024 시장:
</a:t>
            </a:r>
            <a:r>
              <a:rPr lang="en-US" sz="1300" dirty="0">
                <a:solidFill>
                  <a:srgbClr val="0A1931"/>
                </a:solidFill>
              </a:rPr>
              <a:t>간격 반복: $1.2B
AI 플래시카드: $1.98B
</a:t>
            </a:r>
            <a:r>
              <a:rPr lang="en-US" sz="1400" b="1" dirty="0">
                <a:solidFill>
                  <a:srgbClr val="0A1931"/>
                </a:solidFill>
              </a:rPr>
              <a:t>2032/33 전망:
</a:t>
            </a:r>
            <a:r>
              <a:rPr lang="en-US" sz="1300" dirty="0">
                <a:solidFill>
                  <a:srgbClr val="0A1931"/>
                </a:solidFill>
              </a:rPr>
              <a:t>간격 반복: $4.8B
AI 플래시카드: $8.62B
</a:t>
            </a:r>
            <a:r>
              <a:rPr lang="en-US" sz="1400" b="1" dirty="0">
                <a:solidFill>
                  <a:srgbClr val="0A1931"/>
                </a:solidFill>
              </a:rPr>
              <a:t>
연평균성장률(CAGR)
</a:t>
            </a:r>
            <a:r>
              <a:rPr lang="en-US" sz="1300" dirty="0">
                <a:solidFill>
                  <a:srgbClr val="2563EB"/>
                </a:solidFill>
              </a:rPr>
              <a:t>16.5% (간격 반복)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563EB"/>
                </a:solidFill>
              </a:rPr>
              <a:t>20.25% (AI 플래시카드)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2563EB"/>
                </a:solidFill>
                <a:hlinkClick r:id="rId4"/>
              </a:rPr>
              <a:t>[6]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u="sng" dirty="0">
                <a:solidFill>
                  <a:srgbClr val="2563EB"/>
                </a:solidFill>
                <a:hlinkClick r:id="rId5"/>
              </a:rPr>
              <a:t>[7]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931"/>
                </a:solidFill>
              </a:rPr>
              <a:t>경쟁 분석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482031"/>
              </p:ext>
            </p:extLst>
          </p:nvPr>
        </p:nvGraphicFramePr>
        <p:xfrm>
          <a:off x="457200" y="1051560"/>
          <a:ext cx="7952874" cy="2011680"/>
        </p:xfrm>
        <a:graphic>
          <a:graphicData uri="http://schemas.openxmlformats.org/drawingml/2006/table">
            <a:tbl>
              <a:tblPr/>
              <a:tblGrid>
                <a:gridCol w="889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8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7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160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AI 카드 생성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간격 반복(SRS)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푸시 알림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범용 지식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1931"/>
                          </a:solidFill>
                        </a:rPr>
                        <a:t>mnemory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✔︎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✔︎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✔︎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✔︎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931"/>
                          </a:solidFill>
                        </a:rPr>
                        <a:t>RemNote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97706"/>
                          </a:solidFill>
                        </a:rPr>
                        <a:t>✔︎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✔︎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✘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✘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931"/>
                          </a:solidFill>
                        </a:rPr>
                        <a:t>Anki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✘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✔︎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✘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97706"/>
                          </a:solidFill>
                        </a:rPr>
                        <a:t>✔︎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1931"/>
                          </a:solidFill>
                        </a:rPr>
                        <a:t>Perplexity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97706"/>
                          </a:solidFill>
                        </a:rPr>
                        <a:t>✔︎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✘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✘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✘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✔︎ 제공 / ✘ 미제공 · 연한 색상은 부분 지원을 의미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2563EB"/>
                </a:solidFill>
                <a:hlinkClick r:id="rId3"/>
              </a:rPr>
              <a:t>[8]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u="sng" dirty="0">
                <a:solidFill>
                  <a:srgbClr val="2563EB"/>
                </a:solidFill>
                <a:hlinkClick r:id="rId4"/>
              </a:rPr>
              <a:t>[9]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u="sng" dirty="0">
                <a:solidFill>
                  <a:srgbClr val="2563EB"/>
                </a:solidFill>
                <a:hlinkClick r:id="rId5"/>
              </a:rPr>
              <a:t>[10]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u="sng" dirty="0">
                <a:solidFill>
                  <a:srgbClr val="2563EB"/>
                </a:solidFill>
                <a:hlinkClick r:id="rId6"/>
              </a:rPr>
              <a:t>[11]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u="sng" dirty="0">
                <a:solidFill>
                  <a:srgbClr val="2563EB"/>
                </a:solidFill>
                <a:hlinkClick r:id="rId7"/>
              </a:rPr>
              <a:t>[12]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931"/>
                </a:solidFill>
              </a:rPr>
              <a:t>시장 포지셔닝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2971800"/>
            <a:ext cx="73152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0" y="1371600"/>
            <a:ext cx="0" cy="32004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931"/>
                </a:solidFill>
              </a:rPr>
              <a:t>AI 자동화 수준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19" y="1463040"/>
            <a:ext cx="3200400" cy="10972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200" dirty="0" err="1">
                <a:solidFill>
                  <a:srgbClr val="0A1931"/>
                </a:solidFill>
              </a:rPr>
              <a:t>학습</a:t>
            </a:r>
            <a:r>
              <a:rPr lang="en-US" altLang="ko-KR" sz="1200" dirty="0">
                <a:solidFill>
                  <a:srgbClr val="0A1931"/>
                </a:solidFill>
              </a:rPr>
              <a:t> </a:t>
            </a:r>
            <a:r>
              <a:rPr lang="en-US" altLang="ko-KR" sz="1200" dirty="0" err="1">
                <a:solidFill>
                  <a:srgbClr val="0A1931"/>
                </a:solidFill>
              </a:rPr>
              <a:t>개인화</a:t>
            </a:r>
            <a:r>
              <a:rPr lang="en-US" altLang="ko-KR" sz="1200" dirty="0">
                <a:solidFill>
                  <a:srgbClr val="0A1931"/>
                </a:solidFill>
              </a:rPr>
              <a:t> &amp; </a:t>
            </a:r>
            <a:r>
              <a:rPr lang="en-US" altLang="ko-KR" sz="1200" dirty="0" err="1">
                <a:solidFill>
                  <a:srgbClr val="0A1931"/>
                </a:solidFill>
              </a:rPr>
              <a:t>기억</a:t>
            </a:r>
            <a:r>
              <a:rPr lang="en-US" altLang="ko-KR" sz="1200" dirty="0">
                <a:solidFill>
                  <a:srgbClr val="0A1931"/>
                </a:solidFill>
              </a:rPr>
              <a:t> </a:t>
            </a:r>
            <a:r>
              <a:rPr lang="en-US" altLang="ko-KR" sz="1200" dirty="0" err="1">
                <a:solidFill>
                  <a:srgbClr val="0A1931"/>
                </a:solidFill>
              </a:rPr>
              <a:t>강화</a:t>
            </a:r>
            <a:endParaRPr lang="en-US" altLang="ko-KR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203454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080760" y="23271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931"/>
                </a:solidFill>
              </a:rPr>
              <a:t>mnemory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2354580"/>
            <a:ext cx="274320" cy="27432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617720" y="26471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931"/>
                </a:solidFill>
              </a:rPr>
              <a:t>RemNote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2354580"/>
            <a:ext cx="274320" cy="274320"/>
          </a:xfrm>
          <a:prstGeom prst="ellipse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154680" y="26471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931"/>
                </a:solidFill>
              </a:rPr>
              <a:t>Anki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3314700"/>
            <a:ext cx="274320" cy="27432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080760" y="36073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931"/>
                </a:solidFill>
              </a:rPr>
              <a:t>Perplexity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697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낮음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1097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높음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낮음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높음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2563EB"/>
                </a:solidFill>
                <a:hlinkClick r:id="rId3"/>
              </a:rPr>
              <a:t>[13]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u="sng" dirty="0">
                <a:solidFill>
                  <a:srgbClr val="2563EB"/>
                </a:solidFill>
                <a:hlinkClick r:id="rId4"/>
              </a:rPr>
              <a:t>[14]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u="sng" dirty="0">
                <a:solidFill>
                  <a:srgbClr val="2563EB"/>
                </a:solidFill>
                <a:hlinkClick r:id="rId5"/>
              </a:rPr>
              <a:t>[15]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931"/>
                </a:solidFill>
              </a:rPr>
              <a:t>타깃 사용자 &amp; 활용 사례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3657600" cy="27432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143000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9200" y="10972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</a:rPr>
              <a:t>전문가·지식 노동자
</a:t>
            </a:r>
            <a:r>
              <a:rPr lang="en-US" sz="1200" dirty="0">
                <a:solidFill>
                  <a:srgbClr val="0A1931"/>
                </a:solidFill>
              </a:rPr>
              <a:t>빠르게 새로운 분야를 익히고 지속적으로 기억해야 하는 직장인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057400"/>
            <a:ext cx="365760" cy="3657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29200" y="20116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</a:rPr>
              <a:t>대학생·시험 준비생
</a:t>
            </a:r>
            <a:r>
              <a:rPr lang="en-US" sz="1200" dirty="0">
                <a:solidFill>
                  <a:srgbClr val="0A1931"/>
                </a:solidFill>
              </a:rPr>
              <a:t>복잡한 개념과 수많은 용어를 체계적으로 암기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971800"/>
            <a:ext cx="365760" cy="36576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029200" y="29260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</a:rPr>
              <a:t>평생 학습자
</a:t>
            </a:r>
            <a:r>
              <a:rPr lang="en-US" sz="1200" dirty="0">
                <a:solidFill>
                  <a:srgbClr val="0A1931"/>
                </a:solidFill>
              </a:rPr>
              <a:t>자기계발과 취미 학습을 꾸준히 이어가고 싶은 사람</a:t>
            </a:r>
            <a:endParaRPr lang="en-US" sz="1400" dirty="0"/>
          </a:p>
        </p:txBody>
      </p:sp>
      <p:sp>
        <p:nvSpPr>
          <p:cNvPr id="10" name="Text 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2563EB"/>
                </a:solidFill>
                <a:hlinkClick r:id="rId7"/>
              </a:rPr>
              <a:t>[16]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931"/>
                </a:solidFill>
              </a:rPr>
              <a:t>핵심 통찰 &amp; 기회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058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</a:rPr>
              <a:t>급성장하는 교육 시장
</a:t>
            </a:r>
            <a:r>
              <a:rPr lang="en-US" sz="1200" dirty="0">
                <a:solidFill>
                  <a:srgbClr val="0A1931"/>
                </a:solidFill>
              </a:rPr>
              <a:t>AI와 EdTech 시장은 2030년까지 높은 CAGR로 성장하며 새로운 학습 도구에 대한 수요가 폭증하고 있습니다.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7452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828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</a:rPr>
              <a:t>독보적 조합
</a:t>
            </a:r>
            <a:r>
              <a:rPr lang="en-US" sz="1200" dirty="0">
                <a:solidFill>
                  <a:srgbClr val="0A1931"/>
                </a:solidFill>
              </a:rPr>
              <a:t>AI 기반 지식 구조화 + 간격 반복 + 푸시 알림을 결합한 서비스는 현재 시장에서 전무합니다.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69748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5840" y="2651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</a:rPr>
              <a:t>경쟁 공백
</a:t>
            </a:r>
            <a:r>
              <a:rPr lang="en-US" sz="1200" dirty="0">
                <a:solidFill>
                  <a:srgbClr val="0A1931"/>
                </a:solidFill>
              </a:rPr>
              <a:t>기존 서비스는 특정 영역에 국한되거나 AI 자동화가 미흡하여, mnemory가 빠르게 포지셔닝할 수 있습니다.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520440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05840" y="34747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</a:rPr>
              <a:t>1인 운영 가능
</a:t>
            </a:r>
            <a:r>
              <a:rPr lang="en-US" sz="1200" dirty="0">
                <a:solidFill>
                  <a:srgbClr val="0A1931"/>
                </a:solidFill>
              </a:rPr>
              <a:t>AI와 자동화 덕분에 소규모 팀이나 1인 기업으로도 글로벌 서비스를 운영할 수 있는 구조입니다.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2563EB"/>
                </a:solidFill>
                <a:hlinkClick r:id="rId7"/>
              </a:rPr>
              <a:t>[17]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u="sng" dirty="0">
                <a:solidFill>
                  <a:srgbClr val="2563EB"/>
                </a:solidFill>
                <a:hlinkClick r:id="rId8"/>
              </a:rPr>
              <a:t>[18]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u="sng" dirty="0">
                <a:solidFill>
                  <a:srgbClr val="2563EB"/>
                </a:solidFill>
                <a:hlinkClick r:id="rId9"/>
              </a:rPr>
              <a:t>[19]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u="sng" dirty="0">
                <a:solidFill>
                  <a:srgbClr val="2563EB"/>
                </a:solidFill>
                <a:hlinkClick r:id="rId10"/>
              </a:rPr>
              <a:t>[20]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931"/>
                </a:solidFill>
              </a:rPr>
              <a:t>마무리 &amp; 다음 단계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</a:rPr>
              <a:t>MVP 개발 및 베타 출시
</a:t>
            </a:r>
            <a:r>
              <a:rPr lang="en-US" sz="1200" dirty="0">
                <a:solidFill>
                  <a:srgbClr val="0A1931"/>
                </a:solidFill>
              </a:rPr>
              <a:t>2026년 상반기에 핵심 기능을 완성하고 소규모 베타 테스트를 진행합니다.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5740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2011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</a:rPr>
              <a:t>사용자 피드백·알고리즘 개선
</a:t>
            </a:r>
            <a:r>
              <a:rPr lang="en-US" sz="1200" dirty="0">
                <a:solidFill>
                  <a:srgbClr val="0A1931"/>
                </a:solidFill>
              </a:rPr>
              <a:t>학습 데이터를 수집하여 간격 반복과 AI 모델을 지속적으로 개선합니다.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97180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584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</a:rPr>
              <a:t>수익 모델 &amp; 확장 전략
</a:t>
            </a:r>
            <a:r>
              <a:rPr lang="en-US" sz="1200" dirty="0">
                <a:solidFill>
                  <a:srgbClr val="0A1931"/>
                </a:solidFill>
              </a:rPr>
              <a:t>구독 모델, B2B SaaS, 글로벌 시장 진출 계획을 수립합니다.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</a:rPr>
              <a:t>함께 mnemory의 미래를 만들어봅시다!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2563EB"/>
                </a:solidFill>
                <a:hlinkClick r:id="rId6"/>
              </a:rPr>
              <a:t>[21]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u="sng" dirty="0">
                <a:solidFill>
                  <a:srgbClr val="2563EB"/>
                </a:solidFill>
                <a:hlinkClick r:id="rId7"/>
              </a:rPr>
              <a:t>[22]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500</Words>
  <Application>Microsoft Office PowerPoint</Application>
  <PresentationFormat>화면 슬라이드 쇼(16:9)</PresentationFormat>
  <Paragraphs>89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인결 이</cp:lastModifiedBy>
  <cp:revision>2</cp:revision>
  <dcterms:created xsi:type="dcterms:W3CDTF">2025-11-25T05:23:12Z</dcterms:created>
  <dcterms:modified xsi:type="dcterms:W3CDTF">2025-11-25T05:27:34Z</dcterms:modified>
</cp:coreProperties>
</file>